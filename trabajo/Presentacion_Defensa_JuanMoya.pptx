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Defensa de Pasantía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5E3A"/>
                </a:solidFill>
                <a:latin typeface="Calibri"/>
              </a:rPr>
              <a:t>Propuesta de Sistema de Gestión Documental Digital para la Optimización de los Procesos Administrativos en la Gerencia Administrativa de la empresa Servicios y Suministros GEO, C.A.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Calibri"/>
              </a:rPr>
              <a:t>Defensa de Informe de Pasantías — Técnico Superior Universitario en Informática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Pasante: Juan Moya (C.I. V-32.383.863)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IUTECP "Elías Calixto Pompa" · El Tigre, Anzoátegui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Servicios y Suministros GEO, C.A. · Agosto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778451200" y="4933151424000"/>
            <a:ext cx="2508382080000" cy="752514624000"/>
          </a:xfrm>
          <a:prstGeom prst="rect">
            <a:avLst/>
          </a:prstGeom>
          <a:solidFill>
            <a:srgbClr val="E8E2D0"/>
          </a:solidFill>
          <a:ln w="15875">
            <a:solidFill>
              <a:srgbClr val="2E5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A5A5A"/>
                </a:solidFill>
                <a:latin typeface="Calibri"/>
              </a:rPr>
              <a:t>Logo IUTECP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663370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00 · 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Introducción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965960" cy="64008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Realidad organizacional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1371600"/>
            <a:ext cx="36187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5E3A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5033" y="1371600"/>
            <a:ext cx="1965960" cy="64008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Diagnóstico y 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9281" y="1371600"/>
            <a:ext cx="36187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5E3A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2867" y="1371600"/>
            <a:ext cx="1965960" cy="64008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Marco teórico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97115" y="1371600"/>
            <a:ext cx="36187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5E3A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0701" y="1371600"/>
            <a:ext cx="1965960" cy="64008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Actividades (10 semanas)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4949" y="1371600"/>
            <a:ext cx="36187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5E3A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68535" y="1371600"/>
            <a:ext cx="1965960" cy="64008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Conclusiones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Buenos días, miembros del jurado, profesores y tutor académico.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Presento y defiendo el informe de pasantías desarrollado entre </a:t>
            </a:r>
            <a:r>
              <a:rPr sz="1700" b="1">
                <a:solidFill>
                  <a:srgbClr val="2E5E3A"/>
                </a:solidFill>
                <a:latin typeface="Calibri"/>
              </a:rPr>
              <a:t>junio y agosto de 2026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Recorrido integrado: la realidad de la empresa, el diagnóstico y objetivos, el marco que lo sustenta, las actividades ejecutadas y las conclusiones.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355080"/>
            <a:ext cx="1326740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01 · REALIDAD ORGANIZACIONAL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La empresa: GEO, C.A.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383280" cy="54864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Sector: Petrolero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234440"/>
            <a:ext cx="3383280" cy="54864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Alcance: Falcón · Zulia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234440"/>
            <a:ext cx="3383280" cy="54864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Origen: 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Servicios y Suministros </a:t>
            </a:r>
            <a:r>
              <a:rPr sz="1700" b="1">
                <a:solidFill>
                  <a:srgbClr val="2E5E3A"/>
                </a:solidFill>
                <a:latin typeface="Calibri"/>
              </a:rPr>
              <a:t>GEO, C.A.</a:t>
            </a:r>
            <a:r>
              <a:rPr sz="1700" b="0">
                <a:solidFill>
                  <a:srgbClr val="222222"/>
                </a:solidFill>
                <a:latin typeface="Calibri"/>
              </a:rPr>
              <a:t> (RIF J-40833844-0), inscrita en el Registro Mercantil de Anzoátegui.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Nació por iniciativa de Gustavo Ovalles para la industria, especialmente el </a:t>
            </a:r>
            <a:r>
              <a:rPr sz="1700" b="1">
                <a:solidFill>
                  <a:srgbClr val="2E5E3A"/>
                </a:solidFill>
                <a:latin typeface="Calibri"/>
              </a:rPr>
              <a:t>sector petrolero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Oficinas en San José de Guanipa; ejecuta trabajos para empresas </a:t>
            </a:r>
            <a:r>
              <a:rPr sz="1700" b="1">
                <a:solidFill>
                  <a:srgbClr val="2E5E3A"/>
                </a:solidFill>
                <a:latin typeface="Calibri"/>
              </a:rPr>
              <a:t>petroleras y petroquímicas</a:t>
            </a:r>
            <a:r>
              <a:rPr sz="1700" b="0">
                <a:solidFill>
                  <a:srgbClr val="222222"/>
                </a:solidFill>
                <a:latin typeface="Calibri"/>
              </a:rPr>
              <a:t> del occidente.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Portafolio: </a:t>
            </a:r>
            <a:r>
              <a:rPr sz="1700" b="1">
                <a:solidFill>
                  <a:srgbClr val="2E5E3A"/>
                </a:solidFill>
                <a:latin typeface="Calibri"/>
              </a:rPr>
              <a:t>mantenimiento industrial</a:t>
            </a:r>
            <a:r>
              <a:rPr sz="1700" b="0">
                <a:solidFill>
                  <a:srgbClr val="222222"/>
                </a:solidFill>
                <a:latin typeface="Calibri"/>
              </a:rPr>
              <a:t>, suministro de materiales y consultoría técnica.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Misión, visión y valores (transparencia, honestidad, constancia) fueron la base ética de la propuesta.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1990110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01 · REALIDAD ORGANIZACIONAL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Estructura organizacional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1280160"/>
            <a:ext cx="2286000" cy="548640"/>
          </a:xfrm>
          <a:prstGeom prst="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5E3A"/>
                </a:solidFill>
                <a:latin typeface="Calibri"/>
              </a:rPr>
              <a:t>Presidencia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828800"/>
            <a:ext cx="0" cy="274320"/>
          </a:xfrm>
          <a:prstGeom prst="line">
            <a:avLst/>
          </a:prstGeom>
          <a:ln w="12700">
            <a:solidFill>
              <a:srgbClr val="2E5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0" y="2103120"/>
            <a:ext cx="3017520" cy="548640"/>
          </a:xfrm>
          <a:prstGeom prst="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E5E3A"/>
                </a:solidFill>
                <a:latin typeface="Calibri"/>
              </a:rPr>
              <a:t>Gerencia General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651760"/>
            <a:ext cx="0" cy="274320"/>
          </a:xfrm>
          <a:prstGeom prst="line">
            <a:avLst/>
          </a:prstGeom>
          <a:ln w="12700">
            <a:solidFill>
              <a:srgbClr val="2E5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2960" y="2926080"/>
            <a:ext cx="3200400" cy="914400"/>
          </a:xfrm>
          <a:prstGeom prst="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Gerencia
Administrativa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3383280"/>
            <a:ext cx="411480" cy="0"/>
          </a:xfrm>
          <a:prstGeom prst="line">
            <a:avLst/>
          </a:prstGeom>
          <a:ln w="12700">
            <a:solidFill>
              <a:srgbClr val="2E5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434840" y="2926080"/>
            <a:ext cx="3200400" cy="914400"/>
          </a:xfrm>
          <a:prstGeom prst="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Tecnología
de la Información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35240" y="3383280"/>
            <a:ext cx="411480" cy="0"/>
          </a:xfrm>
          <a:prstGeom prst="line">
            <a:avLst/>
          </a:prstGeom>
          <a:ln w="12700">
            <a:solidFill>
              <a:srgbClr val="2E5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046720" y="2926080"/>
            <a:ext cx="3200400" cy="914400"/>
          </a:xfrm>
          <a:prstGeom prst="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Coordinaciones:
Compras · Proyectos
Operaciones · RRHH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47120" y="3383280"/>
            <a:ext cx="411480" cy="0"/>
          </a:xfrm>
          <a:prstGeom prst="line">
            <a:avLst/>
          </a:prstGeom>
          <a:ln w="12700">
            <a:solidFill>
              <a:srgbClr val="2E5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11480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Plantilla de </a:t>
            </a:r>
            <a:r>
              <a:rPr sz="1700" b="1">
                <a:solidFill>
                  <a:srgbClr val="2E5E3A"/>
                </a:solidFill>
                <a:latin typeface="Calibri"/>
              </a:rPr>
              <a:t>veinte trabajadores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Mi pasantía se desarrolló en la </a:t>
            </a:r>
            <a:r>
              <a:rPr sz="1700" b="1">
                <a:solidFill>
                  <a:srgbClr val="2E5E3A"/>
                </a:solidFill>
                <a:latin typeface="Calibri"/>
              </a:rPr>
              <a:t>Gerencia de Administración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2653481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01 · REALIDAD ORGANIZACIONAL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Gerencia de Administración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Conformada por el analista financiero, contabilidad, el asistente, </a:t>
            </a:r>
            <a:r>
              <a:rPr sz="1700" b="1">
                <a:solidFill>
                  <a:srgbClr val="2E5E3A"/>
                </a:solidFill>
                <a:latin typeface="Calibri"/>
              </a:rPr>
              <a:t>cuentas por pagar y tributación</a:t>
            </a:r>
            <a:r>
              <a:rPr sz="1700" b="0">
                <a:solidFill>
                  <a:srgbClr val="222222"/>
                </a:solidFill>
                <a:latin typeface="Calibri"/>
              </a:rPr>
              <a:t>, y cuentas por cobrar y facturación.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Maneja los </a:t>
            </a:r>
            <a:r>
              <a:rPr sz="1700" b="1">
                <a:solidFill>
                  <a:srgbClr val="2E5E3A"/>
                </a:solidFill>
                <a:latin typeface="Calibri"/>
              </a:rPr>
              <a:t>procesos administrativos y financieros</a:t>
            </a:r>
            <a:r>
              <a:rPr sz="1700" b="0">
                <a:solidFill>
                  <a:srgbClr val="222222"/>
                </a:solidFill>
                <a:latin typeface="Calibri"/>
              </a:rPr>
              <a:t> de la organización.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Incluye la elaboración y declaración de las </a:t>
            </a:r>
            <a:r>
              <a:rPr sz="1700" b="1">
                <a:solidFill>
                  <a:srgbClr val="2E5E3A"/>
                </a:solidFill>
                <a:latin typeface="Calibri"/>
              </a:rPr>
              <a:t>retenciones del IVA</a:t>
            </a:r>
            <a:r>
              <a:rPr sz="1700" b="0">
                <a:solidFill>
                  <a:srgbClr val="222222"/>
                </a:solidFill>
                <a:latin typeface="Calibri"/>
              </a:rPr>
              <a:t> ante el fisco nacional.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11277295" cy="1097280"/>
          </a:xfrm>
          <a:prstGeom prst="roundRect">
            <a:avLst/>
          </a:prstGeom>
          <a:solidFill>
            <a:srgbClr val="E8E2D0"/>
          </a:solidFill>
          <a:ln w="1587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2E5E3A"/>
                </a:solidFill>
                <a:latin typeface="Calibri"/>
              </a:rPr>
              <a:t>Punto crítico: </a:t>
            </a:r>
            <a:r>
              <a:rPr sz="1500" b="1">
                <a:solidFill>
                  <a:srgbClr val="FFFFFF"/>
                </a:solidFill>
                <a:latin typeface="Calibri"/>
              </a:rPr>
              <a:t>GEO es contribuyente especial</a:t>
            </a:r>
            <a:r>
              <a:rPr sz="1500" b="1">
                <a:solidFill>
                  <a:srgbClr val="2E5E3A"/>
                </a:solidFill>
                <a:latin typeface="Calibri"/>
              </a:rPr>
              <a:t> → fallas en </a:t>
            </a:r>
            <a:r>
              <a:rPr sz="1500" b="1">
                <a:solidFill>
                  <a:srgbClr val="FFFFFF"/>
                </a:solidFill>
                <a:latin typeface="Calibri"/>
              </a:rPr>
              <a:t>retenciones de IVA</a:t>
            </a:r>
            <a:r>
              <a:rPr sz="1500" b="1">
                <a:solidFill>
                  <a:srgbClr val="2E5E3A"/>
                </a:solidFill>
                <a:latin typeface="Calibri"/>
              </a:rPr>
              <a:t> exponen a sanciones legales y fiscales.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3316851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02 · DIAGNÓSTICO Y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Diagnóstico situacional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05840" cy="731520"/>
          </a:xfrm>
          <a:prstGeom prst="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371600"/>
            <a:ext cx="1005840" cy="731520"/>
          </a:xfrm>
          <a:prstGeom prst="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PDF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1005840" cy="731520"/>
          </a:xfrm>
          <a:prstGeom prst="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E5E3A"/>
                </a:solidFill>
                <a:latin typeface="Calibri"/>
              </a:rPr>
              <a:t>Disco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La </a:t>
            </a:r>
            <a:r>
              <a:rPr sz="1700" b="1">
                <a:solidFill>
                  <a:srgbClr val="2E5E3A"/>
                </a:solidFill>
                <a:latin typeface="Calibri"/>
              </a:rPr>
              <a:t>documentación contable y fiscal</a:t>
            </a:r>
            <a:r>
              <a:rPr sz="1700" b="0">
                <a:solidFill>
                  <a:srgbClr val="222222"/>
                </a:solidFill>
                <a:latin typeface="Calibri"/>
              </a:rPr>
              <a:t> se almacenaba de forma aislada en discos locales de los empleados.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Dispersión → retrasos en el rastreo de comprobantes, fallas de versiones y riesgo de pérdida de datos confidenciales.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Sin software estandarizado local: </a:t>
            </a:r>
            <a:r>
              <a:rPr sz="1700" b="1">
                <a:solidFill>
                  <a:srgbClr val="2E5E3A"/>
                </a:solidFill>
                <a:latin typeface="Calibri"/>
              </a:rPr>
              <a:t>duplicidad de funciones</a:t>
            </a:r>
            <a:r>
              <a:rPr sz="1700" b="0">
                <a:solidFill>
                  <a:srgbClr val="222222"/>
                </a:solidFill>
                <a:latin typeface="Calibri"/>
              </a:rPr>
              <a:t> y demoras en la </a:t>
            </a:r>
            <a:r>
              <a:rPr sz="1700" b="1">
                <a:solidFill>
                  <a:srgbClr val="2E5E3A"/>
                </a:solidFill>
                <a:latin typeface="Calibri"/>
              </a:rPr>
              <a:t>declaración de retenciones de IVA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Un comprobante extraviado podía implicar </a:t>
            </a:r>
            <a:r>
              <a:rPr sz="1700" b="1">
                <a:solidFill>
                  <a:srgbClr val="2E5E3A"/>
                </a:solidFill>
                <a:latin typeface="Calibri"/>
              </a:rPr>
              <a:t>multa o improcedencia de deducción fiscal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83480"/>
            <a:ext cx="11277295" cy="114300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27000" tIns="76200" bIns="76200"/>
          <a:lstStyle/>
          <a:p>
            <a:pPr algn="ctr"/>
            <a:r>
              <a:rPr sz="2400" b="1">
                <a:solidFill>
                  <a:srgbClr val="2E5E3A"/>
                </a:solidFill>
                <a:latin typeface="Calibri"/>
              </a:rPr>
              <a:t>“ </a:t>
            </a:r>
            <a:r>
              <a:rPr sz="1400" b="0">
                <a:solidFill>
                  <a:srgbClr val="222222"/>
                </a:solidFill>
                <a:latin typeface="Calibri"/>
              </a:rPr>
              <a:t>El problema no era de capacidad del personal, sino de </a:t>
            </a:r>
            <a:r>
              <a:rPr sz="1400" b="1">
                <a:solidFill>
                  <a:srgbClr val="2E5E3A"/>
                </a:solidFill>
                <a:latin typeface="Calibri"/>
              </a:rPr>
              <a:t>diseño del proceso</a:t>
            </a:r>
            <a:r>
              <a:rPr sz="1400" b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83480"/>
            <a:ext cx="91440" cy="114300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3980221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02 · DIAGNÓSTICO Y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Análisis con Ishikawa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shikawa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234440"/>
            <a:ext cx="8229600" cy="45471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El diagrama de </a:t>
            </a:r>
            <a:r>
              <a:rPr sz="1700" b="1">
                <a:solidFill>
                  <a:srgbClr val="2E5E3A"/>
                </a:solidFill>
                <a:latin typeface="Calibri"/>
              </a:rPr>
              <a:t>Ishikawa</a:t>
            </a:r>
            <a:r>
              <a:rPr sz="1700" b="0">
                <a:solidFill>
                  <a:srgbClr val="222222"/>
                </a:solidFill>
                <a:latin typeface="Calibri"/>
              </a:rPr>
              <a:t> evidenció las causas raíz de la ineficiencia.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La </a:t>
            </a:r>
            <a:r>
              <a:rPr sz="1700" b="1">
                <a:solidFill>
                  <a:srgbClr val="2E5E3A"/>
                </a:solidFill>
                <a:latin typeface="Calibri"/>
              </a:rPr>
              <a:t>dispersión de archivos</a:t>
            </a:r>
            <a:r>
              <a:rPr sz="1700" b="0">
                <a:solidFill>
                  <a:srgbClr val="222222"/>
                </a:solidFill>
                <a:latin typeface="Calibri"/>
              </a:rPr>
              <a:t> y la falta de un índice centralizado impactan directamente la eficiencia y el control fiscal.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La solución apunta al </a:t>
            </a:r>
            <a:r>
              <a:rPr sz="1700" b="1">
                <a:solidFill>
                  <a:srgbClr val="2E5E3A"/>
                </a:solidFill>
                <a:latin typeface="Calibri"/>
              </a:rPr>
              <a:t>diseño del proceso documental</a:t>
            </a:r>
            <a:r>
              <a:rPr sz="1700" b="0">
                <a:solidFill>
                  <a:srgbClr val="222222"/>
                </a:solidFill>
                <a:latin typeface="Calibri"/>
              </a:rPr>
              <a:t>, no a la capacidad del personal.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4643592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02 · DIAGNÓSTICO Y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Objetivos de la investigación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173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2222"/>
                </a:solidFill>
                <a:latin typeface="Calibri"/>
              </a:rPr>
              <a:t>General: proponer un </a:t>
            </a:r>
            <a:r>
              <a:rPr sz="1700" b="1">
                <a:solidFill>
                  <a:srgbClr val="2E5E3A"/>
                </a:solidFill>
                <a:latin typeface="Calibri"/>
              </a:rPr>
              <a:t>sistema de gestión documental digital</a:t>
            </a:r>
            <a:r>
              <a:rPr sz="1700" b="1">
                <a:solidFill>
                  <a:srgbClr val="222222"/>
                </a:solidFill>
                <a:latin typeface="Calibri"/>
              </a:rPr>
              <a:t> para optimizar los procesos administrativos de la gerencia.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468880"/>
            <a:ext cx="502920" cy="502920"/>
          </a:xfrm>
          <a:prstGeom prst="ellipse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/>
              </a:rPr>
              <a:t>Diagnosticar la </a:t>
            </a:r>
            <a:r>
              <a:rPr sz="1500" b="1">
                <a:solidFill>
                  <a:srgbClr val="2E5E3A"/>
                </a:solidFill>
                <a:latin typeface="Calibri"/>
              </a:rPr>
              <a:t>situación procedimental</a:t>
            </a:r>
            <a:r>
              <a:rPr sz="1500" b="0">
                <a:solidFill>
                  <a:srgbClr val="222222"/>
                </a:solidFill>
                <a:latin typeface="Calibri"/>
              </a:rPr>
              <a:t> y los requerimientos de información.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520440"/>
            <a:ext cx="502920" cy="502920"/>
          </a:xfrm>
          <a:prstGeom prst="ellipse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/>
              </a:rPr>
              <a:t>Evaluar el impacto de las deficiencias y </a:t>
            </a:r>
            <a:r>
              <a:rPr sz="1500" b="1">
                <a:solidFill>
                  <a:srgbClr val="2E5E3A"/>
                </a:solidFill>
                <a:latin typeface="Calibri"/>
              </a:rPr>
              <a:t>limitaciones de control interno</a:t>
            </a:r>
            <a:r>
              <a:rPr sz="1500" b="0">
                <a:solidFill>
                  <a:srgbClr val="222222"/>
                </a:solidFill>
                <a:latin typeface="Calibri"/>
              </a:rPr>
              <a:t> sobre la eficiencia y el </a:t>
            </a:r>
            <a:r>
              <a:rPr sz="1500" b="1">
                <a:solidFill>
                  <a:srgbClr val="2E5E3A"/>
                </a:solidFill>
                <a:latin typeface="Calibri"/>
              </a:rPr>
              <a:t>cumplimiento fiscal</a:t>
            </a:r>
            <a:r>
              <a:rPr sz="1500" b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572000"/>
            <a:ext cx="502920" cy="502920"/>
          </a:xfrm>
          <a:prstGeom prst="ellipse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262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Calibri"/>
              </a:rPr>
              <a:t>Diseñar la arquitectura lógica, los esquemas de datos y una demostración técnica funcional en </a:t>
            </a:r>
            <a:r>
              <a:rPr sz="1500" b="1">
                <a:solidFill>
                  <a:srgbClr val="2E5E3A"/>
                </a:solidFill>
                <a:latin typeface="Calibri"/>
              </a:rPr>
              <a:t>Rust</a:t>
            </a:r>
            <a:r>
              <a:rPr sz="1500" b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5306962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02 · DIAGNÓSTICO Y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Metodología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457200" y="1371600"/>
            <a:ext cx="2468880" cy="731520"/>
          </a:xfrm>
          <a:prstGeom prst="chevron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Diagnóstico</a:t>
            </a:r>
          </a:p>
        </p:txBody>
      </p:sp>
      <p:sp>
        <p:nvSpPr>
          <p:cNvPr id="6" name="Chevron 5"/>
          <p:cNvSpPr/>
          <p:nvPr/>
        </p:nvSpPr>
        <p:spPr>
          <a:xfrm>
            <a:off x="3393338" y="1371600"/>
            <a:ext cx="2468880" cy="731520"/>
          </a:xfrm>
          <a:prstGeom prst="chevron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Requerimientos</a:t>
            </a:r>
          </a:p>
        </p:txBody>
      </p:sp>
      <p:sp>
        <p:nvSpPr>
          <p:cNvPr id="7" name="Chevron 6"/>
          <p:cNvSpPr/>
          <p:nvPr/>
        </p:nvSpPr>
        <p:spPr>
          <a:xfrm>
            <a:off x="6329476" y="1371600"/>
            <a:ext cx="2468880" cy="731520"/>
          </a:xfrm>
          <a:prstGeom prst="chevron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Diseño</a:t>
            </a:r>
          </a:p>
        </p:txBody>
      </p:sp>
      <p:sp>
        <p:nvSpPr>
          <p:cNvPr id="8" name="Chevron 7"/>
          <p:cNvSpPr/>
          <p:nvPr/>
        </p:nvSpPr>
        <p:spPr>
          <a:xfrm>
            <a:off x="9265615" y="1371600"/>
            <a:ext cx="2468880" cy="731520"/>
          </a:xfrm>
          <a:prstGeom prst="chevron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Prototipo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Proyecto factible apoyado en </a:t>
            </a:r>
            <a:r>
              <a:rPr sz="1700" b="1">
                <a:solidFill>
                  <a:srgbClr val="2E5E3A"/>
                </a:solidFill>
                <a:latin typeface="Calibri"/>
              </a:rPr>
              <a:t>investigación de campo</a:t>
            </a:r>
            <a:r>
              <a:rPr sz="1700" b="0">
                <a:solidFill>
                  <a:srgbClr val="222222"/>
                </a:solidFill>
                <a:latin typeface="Calibri"/>
              </a:rPr>
              <a:t> y revisión documental.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Fases de análisis de sistemas de </a:t>
            </a:r>
            <a:r>
              <a:rPr sz="1700" b="1">
                <a:solidFill>
                  <a:srgbClr val="2E5E3A"/>
                </a:solidFill>
                <a:latin typeface="Calibri"/>
              </a:rPr>
              <a:t>Kendall y Kendall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Técnicas: observación participante, entrevistas no estructuradas, listas de cotejo, </a:t>
            </a:r>
            <a:r>
              <a:rPr sz="1700" b="1">
                <a:solidFill>
                  <a:srgbClr val="2E5E3A"/>
                </a:solidFill>
                <a:latin typeface="Calibri"/>
              </a:rPr>
              <a:t>matrices causa-efecto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Diagrama de </a:t>
            </a:r>
            <a:r>
              <a:rPr sz="1700" b="1">
                <a:solidFill>
                  <a:srgbClr val="2E5E3A"/>
                </a:solidFill>
                <a:latin typeface="Calibri"/>
              </a:rPr>
              <a:t>Gantt</a:t>
            </a:r>
            <a:r>
              <a:rPr sz="1700" b="0">
                <a:solidFill>
                  <a:srgbClr val="222222"/>
                </a:solidFill>
                <a:latin typeface="Calibri"/>
              </a:rPr>
              <a:t> organizó las actividades a lo largo de las </a:t>
            </a:r>
            <a:r>
              <a:rPr sz="1700" b="1">
                <a:solidFill>
                  <a:srgbClr val="2E5E3A"/>
                </a:solidFill>
                <a:latin typeface="Calibri"/>
              </a:rPr>
              <a:t>diez semanas</a:t>
            </a:r>
            <a:r>
              <a:rPr sz="1700" b="0">
                <a:solidFill>
                  <a:srgbClr val="222222"/>
                </a:solidFill>
                <a:latin typeface="Calibri"/>
              </a:rPr>
              <a:t> reglamentarias.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1277295" cy="1188720"/>
          </a:xfrm>
          <a:prstGeom prst="rect">
            <a:avLst/>
          </a:prstGeom>
          <a:solidFill>
            <a:srgbClr val="E8E2D0"/>
          </a:solidFill>
          <a:ln w="15875">
            <a:solidFill>
              <a:srgbClr val="2E5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A5A5A"/>
                </a:solidFill>
                <a:latin typeface="Calibri"/>
              </a:rPr>
              <a:t>Espacio para imagen: Diagrama de Gantt (10 semanas)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5970332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03 · MARCO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Marco teórico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19456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 rIns="101600"/>
          <a:lstStyle/>
          <a:p>
            <a:pPr algn="ctr"/>
            <a:r>
              <a:rPr sz="1500" b="1">
                <a:solidFill>
                  <a:srgbClr val="2E5E3A"/>
                </a:solidFill>
                <a:latin typeface="Calibri"/>
              </a:rPr>
              <a:t>Gestión documental</a:t>
            </a:r>
          </a:p>
          <a:p>
            <a:r>
              <a:rPr sz="1200" b="0">
                <a:solidFill>
                  <a:srgbClr val="222222"/>
                </a:solidFill>
                <a:latin typeface="Calibri"/>
              </a:rPr>
              <a:t>Administra documentos en soporte electrónico a lo largo de su ciclo de vida: </a:t>
            </a:r>
            <a:r>
              <a:rPr sz="1200" b="1">
                <a:solidFill>
                  <a:srgbClr val="2E5E3A"/>
                </a:solidFill>
                <a:latin typeface="Calibri"/>
              </a:rPr>
              <a:t>control de versiones</a:t>
            </a:r>
            <a:r>
              <a:rPr sz="1200" b="0">
                <a:solidFill>
                  <a:srgbClr val="222222"/>
                </a:solidFill>
                <a:latin typeface="Calibri"/>
              </a:rPr>
              <a:t>, </a:t>
            </a:r>
            <a:r>
              <a:rPr sz="1200" b="1">
                <a:solidFill>
                  <a:srgbClr val="2E5E3A"/>
                </a:solidFill>
                <a:latin typeface="Calibri"/>
              </a:rPr>
              <a:t>trazabilidad</a:t>
            </a:r>
            <a:r>
              <a:rPr sz="1200" b="0">
                <a:solidFill>
                  <a:srgbClr val="222222"/>
                </a:solidFill>
                <a:latin typeface="Calibri"/>
              </a:rPr>
              <a:t> y simplificación de procesos.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566160" cy="219456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 rIns="101600"/>
          <a:lstStyle/>
          <a:p>
            <a:pPr algn="ctr"/>
            <a:r>
              <a:rPr sz="1500" b="1">
                <a:solidFill>
                  <a:srgbClr val="2E5E3A"/>
                </a:solidFill>
                <a:latin typeface="Calibri"/>
              </a:rPr>
              <a:t>Tecnologías de información</a:t>
            </a:r>
          </a:p>
          <a:p>
            <a:r>
              <a:rPr sz="1200" b="0">
                <a:solidFill>
                  <a:srgbClr val="222222"/>
                </a:solidFill>
                <a:latin typeface="Calibri"/>
              </a:rPr>
              <a:t>Arquitectura de software, bases de datos relacionales, </a:t>
            </a:r>
            <a:r>
              <a:rPr sz="1200" b="1">
                <a:solidFill>
                  <a:srgbClr val="2E5E3A"/>
                </a:solidFill>
                <a:latin typeface="Calibri"/>
              </a:rPr>
              <a:t>metadatos</a:t>
            </a:r>
            <a:r>
              <a:rPr sz="1200" b="0">
                <a:solidFill>
                  <a:srgbClr val="222222"/>
                </a:solidFill>
                <a:latin typeface="Calibri"/>
              </a:rPr>
              <a:t> (RIF, nº factura, tipo de retención) y </a:t>
            </a:r>
            <a:r>
              <a:rPr sz="1200" b="1">
                <a:solidFill>
                  <a:srgbClr val="2E5E3A"/>
                </a:solidFill>
                <a:latin typeface="Calibri"/>
              </a:rPr>
              <a:t>RBAC</a:t>
            </a:r>
            <a:r>
              <a:rPr sz="1200" b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566160" cy="219456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 rIns="101600"/>
          <a:lstStyle/>
          <a:p>
            <a:pPr algn="ctr"/>
            <a:r>
              <a:rPr sz="1500" b="1">
                <a:solidFill>
                  <a:srgbClr val="2E5E3A"/>
                </a:solidFill>
                <a:latin typeface="Calibri"/>
              </a:rPr>
              <a:t>Sistemas gerenciales</a:t>
            </a:r>
          </a:p>
          <a:p>
            <a:r>
              <a:rPr sz="1200" b="0">
                <a:solidFill>
                  <a:srgbClr val="222222"/>
                </a:solidFill>
                <a:latin typeface="Calibri"/>
              </a:rPr>
              <a:t>Apoya la toma de decisiones; ingeniería de requerimientos y atributos de calidad, </a:t>
            </a:r>
            <a:r>
              <a:rPr sz="1200" b="1">
                <a:solidFill>
                  <a:srgbClr val="2E5E3A"/>
                </a:solidFill>
                <a:latin typeface="Calibri"/>
              </a:rPr>
              <a:t>mantenibilidad</a:t>
            </a:r>
            <a:r>
              <a:rPr sz="1200" b="0">
                <a:solidFill>
                  <a:srgbClr val="222222"/>
                </a:solidFill>
                <a:latin typeface="Calibri"/>
              </a:rPr>
              <a:t> y fiabilidad.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Capturar, clasificar, almacenar y disponer el documento sin rupturas en la </a:t>
            </a:r>
            <a:r>
              <a:rPr sz="1700" b="1">
                <a:solidFill>
                  <a:srgbClr val="2E5E3A"/>
                </a:solidFill>
                <a:latin typeface="Calibri"/>
              </a:rPr>
              <a:t>cadena de custodia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6633703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04 · ACTIVIDADES (10 SEMANAS)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Etapa I — Inducción y Diagnóstico (S1-2)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417320"/>
            <a:ext cx="256032" cy="256032"/>
          </a:xfrm>
          <a:prstGeom prst="ellipse">
            <a:avLst/>
          </a:prstGeom>
          <a:solidFill>
            <a:srgbClr val="2E5E3A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1417320"/>
            <a:ext cx="256032" cy="256032"/>
          </a:xfrm>
          <a:prstGeom prst="ellipse">
            <a:avLst/>
          </a:prstGeom>
          <a:solidFill>
            <a:srgbClr val="E8E2D0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1417320"/>
            <a:ext cx="256032" cy="256032"/>
          </a:xfrm>
          <a:prstGeom prst="ellipse">
            <a:avLst/>
          </a:prstGeom>
          <a:solidFill>
            <a:srgbClr val="E8E2D0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06040" y="1417320"/>
            <a:ext cx="256032" cy="256032"/>
          </a:xfrm>
          <a:prstGeom prst="ellipse">
            <a:avLst/>
          </a:prstGeom>
          <a:solidFill>
            <a:srgbClr val="E8E2D0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Inducción con el tutor industrial.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Inspección de facturas, órdenes de servicio y </a:t>
            </a:r>
            <a:r>
              <a:rPr sz="1700" b="1">
                <a:solidFill>
                  <a:srgbClr val="2E5E3A"/>
                </a:solidFill>
                <a:latin typeface="Calibri"/>
              </a:rPr>
              <a:t>comprobantes de retención de IVA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Análisis del procedimiento </a:t>
            </a:r>
            <a:r>
              <a:rPr sz="1700" b="1">
                <a:solidFill>
                  <a:srgbClr val="2E5E3A"/>
                </a:solidFill>
                <a:latin typeface="Calibri"/>
              </a:rPr>
              <a:t>SENIAT</a:t>
            </a:r>
            <a:r>
              <a:rPr sz="1700" b="0">
                <a:solidFill>
                  <a:srgbClr val="222222"/>
                </a:solidFill>
                <a:latin typeface="Calibri"/>
              </a:rPr>
              <a:t> (contribuyente especial).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Levantamiento del archivo digital: carpetas dispersas, </a:t>
            </a:r>
            <a:r>
              <a:rPr sz="1700" b="1">
                <a:solidFill>
                  <a:srgbClr val="2E5E3A"/>
                </a:solidFill>
                <a:latin typeface="Calibri"/>
              </a:rPr>
              <a:t>duplicidad</a:t>
            </a:r>
            <a:r>
              <a:rPr sz="1700" b="0">
                <a:solidFill>
                  <a:srgbClr val="222222"/>
                </a:solidFill>
                <a:latin typeface="Calibri"/>
              </a:rPr>
              <a:t>, riesgo de demora.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11277295" cy="1188720"/>
          </a:xfrm>
          <a:prstGeom prst="rect">
            <a:avLst/>
          </a:prstGeom>
          <a:solidFill>
            <a:srgbClr val="E8E2D0"/>
          </a:solidFill>
          <a:ln w="15875">
            <a:solidFill>
              <a:srgbClr val="2E5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A5A5A"/>
                </a:solidFill>
                <a:latin typeface="Calibri"/>
              </a:rPr>
              <a:t>Espacio para imagen: Diagnóstico y Inspección de Archivos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7297073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04 · ACTIVIDADES (10 SEMANAS)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Etapa II — Levantamiento y Modelado (S3-4)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417320"/>
            <a:ext cx="256032" cy="256032"/>
          </a:xfrm>
          <a:prstGeom prst="ellipse">
            <a:avLst/>
          </a:prstGeom>
          <a:solidFill>
            <a:srgbClr val="2E5E3A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1417320"/>
            <a:ext cx="256032" cy="256032"/>
          </a:xfrm>
          <a:prstGeom prst="ellipse">
            <a:avLst/>
          </a:prstGeom>
          <a:solidFill>
            <a:srgbClr val="2E5E3A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1417320"/>
            <a:ext cx="256032" cy="256032"/>
          </a:xfrm>
          <a:prstGeom prst="ellipse">
            <a:avLst/>
          </a:prstGeom>
          <a:solidFill>
            <a:srgbClr val="E8E2D0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06040" y="1417320"/>
            <a:ext cx="256032" cy="256032"/>
          </a:xfrm>
          <a:prstGeom prst="ellipse">
            <a:avLst/>
          </a:prstGeom>
          <a:solidFill>
            <a:srgbClr val="E8E2D0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Mapeo de la secuencia documental en cuentas por cobrar, pagar y tributación.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Entrevistas con contador y analista financiero.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Definición de </a:t>
            </a:r>
            <a:r>
              <a:rPr sz="1700" b="1">
                <a:solidFill>
                  <a:srgbClr val="2E5E3A"/>
                </a:solidFill>
                <a:latin typeface="Calibri"/>
              </a:rPr>
              <a:t>metadatos clave</a:t>
            </a:r>
            <a:r>
              <a:rPr sz="1700" b="0">
                <a:solidFill>
                  <a:srgbClr val="222222"/>
                </a:solidFill>
                <a:latin typeface="Calibri"/>
              </a:rPr>
              <a:t> (RIF, nº factura, fecha, tipo de retención).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Modelado de diagramas de flujo (</a:t>
            </a:r>
            <a:r>
              <a:rPr sz="1700" b="1">
                <a:solidFill>
                  <a:srgbClr val="2E5E3A"/>
                </a:solidFill>
                <a:latin typeface="Calibri"/>
              </a:rPr>
              <a:t>Kendall y Kendall</a:t>
            </a:r>
            <a:r>
              <a:rPr sz="1700" b="0">
                <a:solidFill>
                  <a:srgbClr val="222222"/>
                </a:solidFill>
                <a:latin typeface="Calibri"/>
              </a:rPr>
              <a:t>) y 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11277295" cy="1188720"/>
          </a:xfrm>
          <a:prstGeom prst="rect">
            <a:avLst/>
          </a:prstGeom>
          <a:solidFill>
            <a:srgbClr val="E8E2D0"/>
          </a:solidFill>
          <a:ln w="15875">
            <a:solidFill>
              <a:srgbClr val="2E5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A5A5A"/>
                </a:solidFill>
                <a:latin typeface="Calibri"/>
              </a:rPr>
              <a:t>Espacio para imagen: Diagramas de Flujo 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7960443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04 · ACTIVIDADES (10 SEMANAS)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Etapa III — Diseño y Codificación en Rust (S5-7)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417320"/>
            <a:ext cx="256032" cy="256032"/>
          </a:xfrm>
          <a:prstGeom prst="ellipse">
            <a:avLst/>
          </a:prstGeom>
          <a:solidFill>
            <a:srgbClr val="2E5E3A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1417320"/>
            <a:ext cx="256032" cy="256032"/>
          </a:xfrm>
          <a:prstGeom prst="ellipse">
            <a:avLst/>
          </a:prstGeom>
          <a:solidFill>
            <a:srgbClr val="2E5E3A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1417320"/>
            <a:ext cx="256032" cy="256032"/>
          </a:xfrm>
          <a:prstGeom prst="ellipse">
            <a:avLst/>
          </a:prstGeom>
          <a:solidFill>
            <a:srgbClr val="2E5E3A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06040" y="1417320"/>
            <a:ext cx="256032" cy="256032"/>
          </a:xfrm>
          <a:prstGeom prst="ellipse">
            <a:avLst/>
          </a:prstGeom>
          <a:solidFill>
            <a:srgbClr val="E8E2D0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Políticas de </a:t>
            </a:r>
            <a:r>
              <a:rPr sz="1700" b="1">
                <a:solidFill>
                  <a:srgbClr val="2E5E3A"/>
                </a:solidFill>
                <a:latin typeface="Calibri"/>
              </a:rPr>
              <a:t>RBAC</a:t>
            </a:r>
            <a:r>
              <a:rPr sz="1700" b="0">
                <a:solidFill>
                  <a:srgbClr val="222222"/>
                </a:solidFill>
                <a:latin typeface="Calibri"/>
              </a:rPr>
              <a:t> conforme al Código Orgánico Tributario.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Rutas locales en </a:t>
            </a:r>
            <a:r>
              <a:rPr sz="1700" b="1">
                <a:solidFill>
                  <a:srgbClr val="2E5E3A"/>
                </a:solidFill>
                <a:latin typeface="Calibri"/>
              </a:rPr>
              <a:t>Linux Debian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Demostración modular en </a:t>
            </a:r>
            <a:r>
              <a:rPr sz="1700" b="1">
                <a:solidFill>
                  <a:srgbClr val="2E5E3A"/>
                </a:solidFill>
                <a:latin typeface="Calibri"/>
              </a:rPr>
              <a:t>Rust</a:t>
            </a:r>
            <a:r>
              <a:rPr sz="1700" b="0">
                <a:solidFill>
                  <a:srgbClr val="222222"/>
                </a:solidFill>
                <a:latin typeface="Calibri"/>
              </a:rPr>
              <a:t>: extracción automática de metadatos e indexación centralizada.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Filtrados inmediatos sin software comercial pesado.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11277295" cy="1188720"/>
          </a:xfrm>
          <a:prstGeom prst="rect">
            <a:avLst/>
          </a:prstGeom>
          <a:solidFill>
            <a:srgbClr val="E8E2D0"/>
          </a:solidFill>
          <a:ln w="15875">
            <a:solidFill>
              <a:srgbClr val="2E5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A5A5A"/>
                </a:solidFill>
                <a:latin typeface="Calibri"/>
              </a:rPr>
              <a:t>Espacio para imagen: Arquitectura del Software y Demostración Técnica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8623813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04 · ACTIVIDADES (10 SEMANAS)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Etapa IV — Pruebas, Capacitación y Cierre (S8-10)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IV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417320"/>
            <a:ext cx="256032" cy="256032"/>
          </a:xfrm>
          <a:prstGeom prst="ellipse">
            <a:avLst/>
          </a:prstGeom>
          <a:solidFill>
            <a:srgbClr val="2E5E3A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1417320"/>
            <a:ext cx="256032" cy="256032"/>
          </a:xfrm>
          <a:prstGeom prst="ellipse">
            <a:avLst/>
          </a:prstGeom>
          <a:solidFill>
            <a:srgbClr val="2E5E3A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1417320"/>
            <a:ext cx="256032" cy="256032"/>
          </a:xfrm>
          <a:prstGeom prst="ellipse">
            <a:avLst/>
          </a:prstGeom>
          <a:solidFill>
            <a:srgbClr val="2E5E3A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06040" y="1417320"/>
            <a:ext cx="256032" cy="256032"/>
          </a:xfrm>
          <a:prstGeom prst="ellipse">
            <a:avLst/>
          </a:prstGeom>
          <a:solidFill>
            <a:srgbClr val="2E5E3A"/>
          </a:solidFill>
          <a:ln w="9525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Pruebas piloto con analista financiero y personal administrativo.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Evaluación del motor de búsqueda en </a:t>
            </a:r>
            <a:r>
              <a:rPr sz="1700" b="1">
                <a:solidFill>
                  <a:srgbClr val="2E5E3A"/>
                </a:solidFill>
                <a:latin typeface="Calibri"/>
              </a:rPr>
              <a:t>Rust</a:t>
            </a:r>
            <a:r>
              <a:rPr sz="1700" b="0">
                <a:solidFill>
                  <a:srgbClr val="222222"/>
                </a:solidFill>
                <a:latin typeface="Calibri"/>
              </a:rPr>
              <a:t> sobre volúmenes reales (</a:t>
            </a:r>
            <a:r>
              <a:rPr sz="1700" b="1">
                <a:solidFill>
                  <a:srgbClr val="2E5E3A"/>
                </a:solidFill>
                <a:latin typeface="Calibri"/>
              </a:rPr>
              <a:t>Linux Debian</a:t>
            </a:r>
            <a:r>
              <a:rPr sz="1700" b="0">
                <a:solidFill>
                  <a:srgbClr val="222222"/>
                </a:solidFill>
                <a:latin typeface="Calibri"/>
              </a:rPr>
              <a:t>).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Ajuste de algoritmos de filtrado con la retroalimentación.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Jornada de capacitación, manuales de usuario y documentación técnica.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11277295" cy="1188720"/>
          </a:xfrm>
          <a:prstGeom prst="rect">
            <a:avLst/>
          </a:prstGeom>
          <a:solidFill>
            <a:srgbClr val="E8E2D0"/>
          </a:solidFill>
          <a:ln w="15875">
            <a:solidFill>
              <a:srgbClr val="2E5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A5A5A"/>
                </a:solidFill>
                <a:latin typeface="Calibri"/>
              </a:rPr>
              <a:t>Espacio para imagen: Pruebas de Usabilidad e Integración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9287184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05 · CONCLUSIONES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O1: el diagnóstico constató la inexistencia de </a:t>
            </a:r>
            <a:r>
              <a:rPr sz="1700" b="1">
                <a:solidFill>
                  <a:srgbClr val="2E5E3A"/>
                </a:solidFill>
                <a:latin typeface="Calibri"/>
              </a:rPr>
              <a:t>estructura digital centralizada</a:t>
            </a:r>
            <a:r>
              <a:rPr sz="1700" b="0">
                <a:solidFill>
                  <a:srgbClr val="222222"/>
                </a:solidFill>
                <a:latin typeface="Calibri"/>
              </a:rPr>
              <a:t> → duplicidad, demoras y vulnerabilidad tributaria.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O2: el análisis causa-efecto demostró que la falta de flujo digital estandarizado compromete la productividad y eleva el riesgo de </a:t>
            </a:r>
            <a:r>
              <a:rPr sz="1700" b="1">
                <a:solidFill>
                  <a:srgbClr val="2E5E3A"/>
                </a:solidFill>
                <a:latin typeface="Calibri"/>
              </a:rPr>
              <a:t>sanciones</a:t>
            </a:r>
            <a:r>
              <a:rPr sz="1700" b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O3: las pruebas piloto validaron la viabilidad técnica en </a:t>
            </a:r>
            <a:r>
              <a:rPr sz="1700" b="1">
                <a:solidFill>
                  <a:srgbClr val="2E5E3A"/>
                </a:solidFill>
                <a:latin typeface="Calibri"/>
              </a:rPr>
              <a:t>Rust</a:t>
            </a:r>
            <a:r>
              <a:rPr sz="1700" b="0">
                <a:solidFill>
                  <a:srgbClr val="222222"/>
                </a:solidFill>
                <a:latin typeface="Calibri"/>
              </a:rPr>
              <a:t>: tiempos de localización reducidos, interfaz intuitiva y </a:t>
            </a:r>
            <a:r>
              <a:rPr sz="1700" b="1">
                <a:solidFill>
                  <a:srgbClr val="2E5E3A"/>
                </a:solidFill>
                <a:latin typeface="Calibri"/>
              </a:rPr>
              <a:t>RBAC</a:t>
            </a:r>
            <a:r>
              <a:rPr sz="1700" b="0">
                <a:solidFill>
                  <a:srgbClr val="222222"/>
                </a:solidFill>
                <a:latin typeface="Calibri"/>
              </a:rPr>
              <a:t> seguro.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2E5E3A"/>
                </a:solidFill>
                <a:latin typeface="Calibri"/>
              </a:rPr>
              <a:t>▪  </a:t>
            </a:r>
            <a:r>
              <a:rPr sz="1700" b="0">
                <a:solidFill>
                  <a:srgbClr val="222222"/>
                </a:solidFill>
                <a:latin typeface="Calibri"/>
              </a:rPr>
              <a:t>El plan de estudios aportó el marco organizacional, la rigurosidad metodológica y los fundamentos de modelado, programación y auditoría.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846320"/>
            <a:ext cx="11277295" cy="1188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27000" tIns="76200" bIns="76200"/>
          <a:lstStyle/>
          <a:p>
            <a:pPr algn="ctr"/>
            <a:r>
              <a:rPr sz="2400" b="1">
                <a:solidFill>
                  <a:srgbClr val="2E5E3A"/>
                </a:solidFill>
                <a:latin typeface="Calibri"/>
              </a:rPr>
              <a:t>“ </a:t>
            </a:r>
            <a:r>
              <a:rPr sz="1400" b="0">
                <a:solidFill>
                  <a:srgbClr val="222222"/>
                </a:solidFill>
                <a:latin typeface="Calibri"/>
              </a:rPr>
              <a:t>Centralizar y </a:t>
            </a:r>
            <a:r>
              <a:rPr sz="1400" b="1">
                <a:solidFill>
                  <a:srgbClr val="2E5E3A"/>
                </a:solidFill>
                <a:latin typeface="Calibri"/>
              </a:rPr>
              <a:t>sistematizar la información</a:t>
            </a:r>
            <a:r>
              <a:rPr sz="1400" b="0">
                <a:solidFill>
                  <a:srgbClr val="222222"/>
                </a:solidFill>
                <a:latin typeface="Calibri"/>
              </a:rPr>
              <a:t> es la base para cumplir, auditar y crecer.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846320"/>
            <a:ext cx="91440" cy="1188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9950554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05 · CONCLUSIONES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Recomendaciones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365760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 rIns="101600"/>
          <a:lstStyle/>
          <a:p>
            <a:pPr algn="ctr"/>
            <a:r>
              <a:rPr sz="1500" b="1">
                <a:solidFill>
                  <a:srgbClr val="2E5E3A"/>
                </a:solidFill>
                <a:latin typeface="Calibri"/>
              </a:rPr>
              <a:t>A la empresa</a:t>
            </a:r>
          </a:p>
          <a:p>
            <a:r>
              <a:rPr sz="1200" b="0">
                <a:solidFill>
                  <a:srgbClr val="222222"/>
                </a:solidFill>
                <a:latin typeface="Calibri"/>
              </a:rPr>
              <a:t>• Adopción progresiva del sistema.
• Esquema de nombrado por </a:t>
            </a:r>
            <a:r>
              <a:rPr sz="1200" b="1">
                <a:solidFill>
                  <a:srgbClr val="2E5E3A"/>
                </a:solidFill>
                <a:latin typeface="Calibri"/>
              </a:rPr>
              <a:t>metadatos</a:t>
            </a:r>
            <a:r>
              <a:rPr sz="1200" b="0">
                <a:solidFill>
                  <a:srgbClr val="222222"/>
                </a:solidFill>
                <a:latin typeface="Calibri"/>
              </a:rPr>
              <a:t>.
• Integrar en cuentas por cobrar y por pagar.
• Capacitar al personal y abrir pasantías.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566160" cy="365760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 rIns="101600"/>
          <a:lstStyle/>
          <a:p>
            <a:pPr algn="ctr"/>
            <a:r>
              <a:rPr sz="1500" b="1">
                <a:solidFill>
                  <a:srgbClr val="2E5E3A"/>
                </a:solidFill>
                <a:latin typeface="Calibri"/>
              </a:rPr>
              <a:t>Al IUTECP</a:t>
            </a:r>
          </a:p>
          <a:p>
            <a:r>
              <a:rPr sz="1200" b="0">
                <a:solidFill>
                  <a:srgbClr val="222222"/>
                </a:solidFill>
                <a:latin typeface="Calibri"/>
              </a:rPr>
              <a:t>• Talleres de </a:t>
            </a:r>
            <a:r>
              <a:rPr sz="1200" b="1">
                <a:solidFill>
                  <a:srgbClr val="2E5E3A"/>
                </a:solidFill>
                <a:latin typeface="Calibri"/>
              </a:rPr>
              <a:t>lenguajes y arquitecturas emergentes</a:t>
            </a:r>
            <a:r>
              <a:rPr sz="1200" b="0">
                <a:solidFill>
                  <a:srgbClr val="222222"/>
                </a:solidFill>
                <a:latin typeface="Calibri"/>
              </a:rPr>
              <a:t>.
• Comunicación entre pasantías y tutores.
• Proyectos integradores (auditoría y gestión documental).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566160" cy="3657600"/>
          </a:xfrm>
          <a:prstGeom prst="roundRect">
            <a:avLst/>
          </a:prstGeom>
          <a:solidFill>
            <a:srgbClr val="E8E2D0"/>
          </a:solidFill>
          <a:ln w="12700">
            <a:solidFill>
              <a:srgbClr val="2E5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 rIns="101600"/>
          <a:lstStyle/>
          <a:p>
            <a:pPr algn="ctr"/>
            <a:r>
              <a:rPr sz="1500" b="1">
                <a:solidFill>
                  <a:srgbClr val="2E5E3A"/>
                </a:solidFill>
                <a:latin typeface="Calibri"/>
              </a:rPr>
              <a:t>A los futuros pasantes</a:t>
            </a:r>
          </a:p>
          <a:p>
            <a:r>
              <a:rPr sz="1200" b="0">
                <a:solidFill>
                  <a:srgbClr val="222222"/>
                </a:solidFill>
                <a:latin typeface="Calibri"/>
              </a:rPr>
              <a:t>• Priorizar </a:t>
            </a:r>
            <a:r>
              <a:rPr sz="1200" b="1">
                <a:solidFill>
                  <a:srgbClr val="2E5E3A"/>
                </a:solidFill>
                <a:latin typeface="Calibri"/>
              </a:rPr>
              <a:t>diagnóstico de campo</a:t>
            </a:r>
            <a:r>
              <a:rPr sz="1200" b="0">
                <a:solidFill>
                  <a:srgbClr val="222222"/>
                </a:solidFill>
                <a:latin typeface="Calibri"/>
              </a:rPr>
              <a:t> y requerimientos desde las primeras semanas.
• Mantener comunicación constante con ambos tutores.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0613924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5E3A"/>
                </a:solidFill>
                <a:latin typeface="Calibri"/>
              </a:rPr>
              <a:t>05 · CONCLUSIONES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5E3A"/>
                </a:solidFill>
                <a:latin typeface="Calibri"/>
              </a:rPr>
              <a:t>Cierre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77295" cy="27432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La pasantía integró los conocimientos de la carrera en un entorno operativo real.</a:t>
            </a:r>
          </a:p>
          <a:p>
            <a:pPr algn="ctr">
              <a:spcAft>
                <a:spcPts val="12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La demostración funcional en </a:t>
            </a:r>
            <a:r>
              <a:rPr sz="1700" b="1">
                <a:solidFill>
                  <a:srgbClr val="2E5E3A"/>
                </a:solidFill>
                <a:latin typeface="Calibri"/>
              </a:rPr>
              <a:t>Rust</a:t>
            </a:r>
            <a:r>
              <a:rPr sz="1700" b="0">
                <a:solidFill>
                  <a:srgbClr val="222222"/>
                </a:solidFill>
                <a:latin typeface="Calibri"/>
              </a:rPr>
              <a:t> centraliza el archivo, elimina brechas operacionales y garantiza la trazabilidad exigida en auditorías internas y tributarias.</a:t>
            </a:r>
          </a:p>
          <a:p>
            <a:pPr algn="ctr">
              <a:spcAft>
                <a:spcPts val="12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La sistematización de la información es pilar de la productividad y del fortalecimiento del control interno.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754880"/>
            <a:ext cx="11277295" cy="100584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27000" tIns="76200" bIns="76200"/>
          <a:lstStyle/>
          <a:p>
            <a:pPr algn="ctr"/>
            <a:r>
              <a:rPr sz="2400" b="1">
                <a:solidFill>
                  <a:srgbClr val="2E5E3A"/>
                </a:solidFill>
                <a:latin typeface="Calibri"/>
              </a:rPr>
              <a:t>“ </a:t>
            </a:r>
            <a:r>
              <a:rPr sz="1400" b="0">
                <a:solidFill>
                  <a:srgbClr val="222222"/>
                </a:solidFill>
                <a:latin typeface="Calibri"/>
              </a:rPr>
              <a:t>Incluso con recursos locales y un lenguaje de sistemas como </a:t>
            </a:r>
            <a:r>
              <a:rPr sz="1400" b="1">
                <a:solidFill>
                  <a:srgbClr val="2E5E3A"/>
                </a:solidFill>
                <a:latin typeface="Calibri"/>
              </a:rPr>
              <a:t>Rust</a:t>
            </a:r>
            <a:r>
              <a:rPr sz="1400" b="0">
                <a:solidFill>
                  <a:srgbClr val="222222"/>
                </a:solidFill>
                <a:latin typeface="Calibri"/>
              </a:rPr>
              <a:t>, es posible resolver una necesidad real de la industria nacional.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754880"/>
            <a:ext cx="91440" cy="100584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E5E3A"/>
                </a:solidFill>
                <a:latin typeface="Calibri"/>
              </a:rPr>
              <a:t>Muchas gracias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E8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11277295" cy="45720"/>
          </a:xfrm>
          <a:prstGeom prst="rect">
            <a:avLst/>
          </a:prstGeom>
          <a:solidFill>
            <a:srgbClr val="2E5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Calibri"/>
              </a:rPr>
              <a:t>Juan Moya · Defensa de Pasantía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E5E3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