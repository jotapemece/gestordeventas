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554480" cy="1097280"/>
          </a:xfrm>
          <a:prstGeom prst="rect">
            <a:avLst/>
          </a:prstGeom>
          <a:solidFill>
            <a:srgbClr val="F1F5F4"/>
          </a:solidFill>
          <a:ln w="15875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4748B"/>
                </a:solidFill>
                <a:latin typeface="Inter"/>
              </a:rPr>
              <a:t>[LOGO IUTSO]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3200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E293B"/>
                </a:solidFill>
                <a:latin typeface="Inter"/>
              </a:rPr>
              <a:t>REPÚBLICA BOLIVARIANA DE VENEZUELA</a:t>
            </a:r>
          </a:p>
          <a:p>
            <a:pPr algn="ctr"/>
            <a:r>
              <a:rPr sz="1250" b="1">
                <a:solidFill>
                  <a:srgbClr val="1E293B"/>
                </a:solidFill>
                <a:latin typeface="Inter"/>
              </a:rPr>
              <a:t>MINISTERIO DEL PODER POPULAR PARA LA EDUCACIÓN UNIVERSITARIA</a:t>
            </a:r>
          </a:p>
          <a:p>
            <a:pPr algn="ctr"/>
            <a:r>
              <a:rPr sz="1250" b="1">
                <a:solidFill>
                  <a:srgbClr val="1E293B"/>
                </a:solidFill>
                <a:latin typeface="Inter"/>
              </a:rPr>
              <a:t>INSTITUTO UNIVERSITARIO DE TECNOLOGÍA SUPERIOR DE ORIENTE (IUTSO)</a:t>
            </a:r>
          </a:p>
          <a:p>
            <a:pPr algn="ctr"/>
            <a:r>
              <a:rPr sz="1250" b="1">
                <a:solidFill>
                  <a:srgbClr val="1E293B"/>
                </a:solidFill>
                <a:latin typeface="Inter"/>
              </a:rPr>
              <a:t>EL TIGRE, ESTADO ANZOÁTEGUI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664208"/>
            <a:ext cx="10966399" cy="228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286000"/>
            <a:ext cx="9628632" cy="219456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/>
          <a:lstStyle/>
          <a:p>
            <a:pPr algn="ctr"/>
            <a:r>
              <a:rPr sz="1900" b="1">
                <a:solidFill>
                  <a:srgbClr val="0F172A"/>
                </a:solidFill>
                <a:latin typeface="Inter"/>
              </a:rPr>
              <a:t>DESIGN AND WRITING OF A BILINGUAL (SPANISH-ENGLISH) CORPORATE BROCHURE FOR THE MARKETING AND COMMUNICATIONS DEPARTMENT AT GRUPO SOL Y SOMBRA, C.A., LOCATED IN EL TIGRE, ANZOÁTEGUI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5806440"/>
            <a:ext cx="10966399" cy="228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5943600"/>
            <a:ext cx="109663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PRESENTATION BY: Ahlam Alrifaai Alrifaie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01. LA ORGANIZACIÓN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Grupo Sol y Sombra, C.A.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554480"/>
            <a:ext cx="5300319" cy="4206240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700" b="1">
                <a:solidFill>
                  <a:srgbClr val="0F172A"/>
                </a:solidFill>
                <a:latin typeface="Inter"/>
              </a:rPr>
              <a:t>Resumen Ejecutivo</a:t>
            </a:r>
          </a:p>
          <a:p>
            <a:r>
              <a:rPr sz="1400" b="0">
                <a:solidFill>
                  <a:srgbClr val="1E293B"/>
                </a:solidFill>
                <a:latin typeface="Inter"/>
              </a:rPr>
              <a:t>Empresa consolidada en </a:t>
            </a:r>
            <a:r>
              <a:rPr sz="1400" b="1">
                <a:solidFill>
                  <a:srgbClr val="0F172A"/>
                </a:solidFill>
                <a:latin typeface="Inter"/>
              </a:rPr>
              <a:t>El Tigre, Estado Anzoátegui</a:t>
            </a:r>
            <a:r>
              <a:rPr sz="1400" b="0">
                <a:solidFill>
                  <a:srgbClr val="1E293B"/>
                </a:solidFill>
                <a:latin typeface="Inter"/>
              </a:rPr>
              <a:t>, bajo el modelo de negocio **"Calidad Económica": variedad de inventario con precios accesibles para el mercado regional.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300319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500" b="1">
                <a:solidFill>
                  <a:srgbClr val="2D5A47"/>
                </a:solidFill>
                <a:latin typeface="Inter"/>
              </a:rPr>
              <a:t>Electrodomésticos y Tecnología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3017520"/>
            <a:ext cx="5300319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500" b="1">
                <a:solidFill>
                  <a:srgbClr val="2D5A47"/>
                </a:solidFill>
                <a:latin typeface="Inter"/>
              </a:rPr>
              <a:t>Artículos para el Hogar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4480560"/>
            <a:ext cx="5300319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500" b="1">
                <a:solidFill>
                  <a:srgbClr val="2D5A47"/>
                </a:solidFill>
                <a:latin typeface="Inter"/>
              </a:rPr>
              <a:t>Herramientas de Ferretería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02.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Ubicación Geográfica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554480"/>
            <a:ext cx="5300319" cy="4206240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700" b="1">
                <a:solidFill>
                  <a:srgbClr val="0F172A"/>
                </a:solidFill>
                <a:latin typeface="Inter"/>
              </a:rPr>
              <a:t>Dirección Física</a:t>
            </a:r>
          </a:p>
          <a:p>
            <a:r>
              <a:rPr sz="1500" b="0">
                <a:solidFill>
                  <a:srgbClr val="1E293B"/>
                </a:solidFill>
                <a:latin typeface="Inter"/>
              </a:rPr>
              <a:t>▪  Calle Bolívar
▪  Edificio Sol y Sombra
▪  Local 34
▪  Zona Centro
▪  El Tigre
▪  Estado Anzoátegui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727" y="1554480"/>
            <a:ext cx="5300319" cy="4206240"/>
          </a:xfrm>
          <a:prstGeom prst="rect">
            <a:avLst/>
          </a:prstGeom>
          <a:solidFill>
            <a:srgbClr val="F1F5F4"/>
          </a:solidFill>
          <a:ln w="15875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4748B"/>
                </a:solidFill>
                <a:latin typeface="Inter"/>
              </a:rPr>
              <a:t>[MAPA / UBICACIÓN GEOGRÁFICA]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03. 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Organigrama Departamental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24688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Gerencia de Ventas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Dirección general de operaciones comerciales.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2880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Inter"/>
              </a:rP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24688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Mercadeo y Comunicaciones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Imagen y promoción institucional.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2880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Inter"/>
              </a:rP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7848" y="24688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EAF2EE"/>
          </a:solidFill>
          <a:ln w="15875">
            <a:solidFill>
              <a:srgbClr val="2D5A47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500" b="1">
                <a:solidFill>
                  <a:srgbClr val="2D5A47"/>
                </a:solidFill>
                <a:latin typeface="Inter"/>
              </a:rPr>
              <a:t>Pasante de Inglés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Asistente de Contenido Bilingüe.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04.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Identificación del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645920"/>
            <a:ext cx="10966399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0">
                <a:solidFill>
                  <a:srgbClr val="1E293B"/>
                </a:solidFill>
                <a:latin typeface="Inter"/>
              </a:rPr>
              <a:t>La empresa carecía de una </a:t>
            </a:r>
            <a:r>
              <a:rPr sz="1700" b="1">
                <a:solidFill>
                  <a:srgbClr val="0F172A"/>
                </a:solidFill>
                <a:latin typeface="Inter"/>
              </a:rPr>
              <a:t>herramienta promocional bilingüe formal</a:t>
            </a:r>
            <a:r>
              <a:rPr sz="1700" b="0">
                <a:solidFill>
                  <a:srgbClr val="1E293B"/>
                </a:solidFill>
                <a:latin typeface="Inter"/>
              </a:rPr>
              <a:t> (información solo en español y de forma verbal). Esto generaba </a:t>
            </a:r>
            <a:r>
              <a:rPr sz="1700" b="1">
                <a:solidFill>
                  <a:srgbClr val="0F172A"/>
                </a:solidFill>
                <a:latin typeface="Inter"/>
              </a:rPr>
              <a:t>barreras de comunicación</a:t>
            </a:r>
            <a:r>
              <a:rPr sz="1700" b="0">
                <a:solidFill>
                  <a:srgbClr val="1E293B"/>
                </a:solidFill>
                <a:latin typeface="Inter"/>
              </a:rPr>
              <a:t> en un mercado activo como El Tigre, limitando su proyección e interacción internacional.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05. PROPÓSITO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Objetivos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554480"/>
            <a:ext cx="10966399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700" b="1">
                <a:solidFill>
                  <a:srgbClr val="0F172A"/>
                </a:solidFill>
                <a:latin typeface="Inter"/>
              </a:rPr>
              <a:t>Objetivo General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Crear un </a:t>
            </a:r>
            <a:r>
              <a:rPr sz="1300" b="1">
                <a:solidFill>
                  <a:srgbClr val="0F172A"/>
                </a:solidFill>
                <a:latin typeface="Inter"/>
              </a:rPr>
              <a:t>folleto / brochure bilingüe</a:t>
            </a:r>
            <a:r>
              <a:rPr sz="1300" b="0">
                <a:solidFill>
                  <a:srgbClr val="1E293B"/>
                </a:solidFill>
                <a:latin typeface="Inter"/>
              </a:rPr>
              <a:t> para el Departamento de Mercadeo de Grupo Sol y Sombra, C.A.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834640"/>
            <a:ext cx="347258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0F172A"/>
                </a:solidFill>
                <a:latin typeface="Inter"/>
              </a:rPr>
              <a:t>1. Analizar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Información institucional y catálogo existente.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9554" y="2834640"/>
            <a:ext cx="347258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0F172A"/>
                </a:solidFill>
                <a:latin typeface="Inter"/>
              </a:rPr>
              <a:t>2. Diseñar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Diagramación y contenido bilingüe (ES/EN).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6460" y="2834640"/>
            <a:ext cx="347258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0F172A"/>
                </a:solidFill>
                <a:latin typeface="Inter"/>
              </a:rPr>
              <a:t>3. Desarrollar y Entregar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Producto final digital listo para su uso.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06. CRONOGRAMA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Plan de Actividades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" y="2468880"/>
            <a:ext cx="10966399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354" y="2350008"/>
            <a:ext cx="274320" cy="2743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788920"/>
            <a:ext cx="1644853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Sem 01</a:t>
            </a:r>
          </a:p>
          <a:p>
            <a:r>
              <a:rPr sz="1050" b="0">
                <a:solidFill>
                  <a:srgbClr val="1E293B"/>
                </a:solidFill>
                <a:latin typeface="Inter"/>
              </a:rPr>
              <a:t>06/01 - 06/05
Inducción y evaluación de material publicitario.</a:t>
            </a:r>
          </a:p>
        </p:txBody>
      </p:sp>
      <p:sp>
        <p:nvSpPr>
          <p:cNvPr id="8" name="Oval 7"/>
          <p:cNvSpPr/>
          <p:nvPr/>
        </p:nvSpPr>
        <p:spPr>
          <a:xfrm>
            <a:off x="3217087" y="2350008"/>
            <a:ext cx="274320" cy="2743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31821" y="2788920"/>
            <a:ext cx="1644853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Sem 02</a:t>
            </a:r>
          </a:p>
          <a:p>
            <a:r>
              <a:rPr sz="1050" b="0">
                <a:solidFill>
                  <a:srgbClr val="1E293B"/>
                </a:solidFill>
                <a:latin typeface="Inter"/>
              </a:rPr>
              <a:t>06/08 - 06/12
Investigación corporativa y análisis del mercado comercial.</a:t>
            </a:r>
          </a:p>
        </p:txBody>
      </p:sp>
      <p:sp>
        <p:nvSpPr>
          <p:cNvPr id="10" name="Oval 9"/>
          <p:cNvSpPr/>
          <p:nvPr/>
        </p:nvSpPr>
        <p:spPr>
          <a:xfrm>
            <a:off x="5044821" y="2350008"/>
            <a:ext cx="274320" cy="2743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9554" y="2788920"/>
            <a:ext cx="1644853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Sem 03</a:t>
            </a:r>
          </a:p>
          <a:p>
            <a:r>
              <a:rPr sz="1050" b="0">
                <a:solidFill>
                  <a:srgbClr val="1E293B"/>
                </a:solidFill>
                <a:latin typeface="Inter"/>
              </a:rPr>
              <a:t>06/15 - 06/19
Recolección de fichas técnicas de productos de hogar y tecnología.</a:t>
            </a:r>
          </a:p>
        </p:txBody>
      </p:sp>
      <p:sp>
        <p:nvSpPr>
          <p:cNvPr id="12" name="Oval 11"/>
          <p:cNvSpPr/>
          <p:nvPr/>
        </p:nvSpPr>
        <p:spPr>
          <a:xfrm>
            <a:off x="6872554" y="2350008"/>
            <a:ext cx="274320" cy="27432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7287" y="2788920"/>
            <a:ext cx="1644853" cy="3108960"/>
          </a:xfrm>
          <a:prstGeom prst="roundRect">
            <a:avLst>
              <a:gd name="adj" fmla="val 2941"/>
            </a:avLst>
          </a:prstGeom>
          <a:solidFill>
            <a:srgbClr val="FEF3C7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Sem 04-05</a:t>
            </a:r>
          </a:p>
          <a:p>
            <a:r>
              <a:rPr sz="1050" b="0">
                <a:solidFill>
                  <a:srgbClr val="1E293B"/>
                </a:solidFill>
                <a:latin typeface="Inter"/>
              </a:rPr>
              <a:t>06/22 - 07/03
Maquetación en español, traducción a inglés y ensamblaje digital. (Pausa de 3 días por emergencia sísmica nacional; plan de recuperación aplicado).</a:t>
            </a:r>
          </a:p>
        </p:txBody>
      </p:sp>
      <p:sp>
        <p:nvSpPr>
          <p:cNvPr id="14" name="Oval 13"/>
          <p:cNvSpPr/>
          <p:nvPr/>
        </p:nvSpPr>
        <p:spPr>
          <a:xfrm>
            <a:off x="8700287" y="2350008"/>
            <a:ext cx="274320" cy="2743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5020" y="2788920"/>
            <a:ext cx="1644853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Sem 06</a:t>
            </a:r>
          </a:p>
          <a:p>
            <a:r>
              <a:rPr sz="1050" b="0">
                <a:solidFill>
                  <a:srgbClr val="1E293B"/>
                </a:solidFill>
                <a:latin typeface="Inter"/>
              </a:rPr>
              <a:t>07/06 - 07/10
Presentación del borrador al tutor institucional para correcciones.</a:t>
            </a:r>
          </a:p>
        </p:txBody>
      </p:sp>
      <p:sp>
        <p:nvSpPr>
          <p:cNvPr id="16" name="Oval 15"/>
          <p:cNvSpPr/>
          <p:nvPr/>
        </p:nvSpPr>
        <p:spPr>
          <a:xfrm>
            <a:off x="10528020" y="2350008"/>
            <a:ext cx="274320" cy="2743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42754" y="2788920"/>
            <a:ext cx="1644853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Sem 07</a:t>
            </a:r>
          </a:p>
          <a:p>
            <a:r>
              <a:rPr sz="1050" b="0">
                <a:solidFill>
                  <a:srgbClr val="1E293B"/>
                </a:solidFill>
                <a:latin typeface="Inter"/>
              </a:rPr>
              <a:t>07/13 - 07/15
Cumplimiento del plan de recuperación de días y entrega oficial.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07. PERFIL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Vinculación con el Perfil Profesional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645920"/>
            <a:ext cx="3472586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2D5A47"/>
                </a:solidFill>
                <a:latin typeface="Inter"/>
              </a:rPr>
              <a:t>Inglés Técnico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Precisión gramatical en contexto comercial.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" y="4480560"/>
            <a:ext cx="3106826" cy="365760"/>
          </a:xfrm>
          <a:prstGeom prst="roundRect">
            <a:avLst>
              <a:gd name="adj" fmla="val 95000"/>
            </a:avLst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/>
            <a:r>
              <a:rPr sz="1100" b="1">
                <a:solidFill>
                  <a:srgbClr val="2D5A47"/>
                </a:solidFill>
                <a:latin typeface="Inter"/>
              </a:rPr>
              <a:t>Inglés Técnico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9554" y="1645920"/>
            <a:ext cx="3472586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2D5A47"/>
                </a:solidFill>
                <a:latin typeface="Inter"/>
              </a:rPr>
              <a:t>Traducción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Dominio de terminología técnica de productos.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2434" y="4480560"/>
            <a:ext cx="3106826" cy="365760"/>
          </a:xfrm>
          <a:prstGeom prst="roundRect">
            <a:avLst>
              <a:gd name="adj" fmla="val 95000"/>
            </a:avLst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/>
            <a:r>
              <a:rPr sz="1100" b="1">
                <a:solidFill>
                  <a:srgbClr val="2D5A47"/>
                </a:solidFill>
                <a:latin typeface="Inter"/>
              </a:rPr>
              <a:t>Traducción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6460" y="1645920"/>
            <a:ext cx="3472586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2D5A47"/>
                </a:solidFill>
                <a:latin typeface="Inter"/>
              </a:rPr>
              <a:t>Redacción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Estructuración de contenidos corporativos.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9340" y="4480560"/>
            <a:ext cx="3106826" cy="365760"/>
          </a:xfrm>
          <a:prstGeom prst="roundRect">
            <a:avLst>
              <a:gd name="adj" fmla="val 95000"/>
            </a:avLst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/>
            <a:r>
              <a:rPr sz="1100" b="1">
                <a:solidFill>
                  <a:srgbClr val="2D5A47"/>
                </a:solidFill>
                <a:latin typeface="Inter"/>
              </a:rPr>
              <a:t>Redacción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08.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Conocimientos Teóricos y Prácticos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554480"/>
            <a:ext cx="5300319" cy="4206240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700" b="1">
                <a:solidFill>
                  <a:srgbClr val="0F172A"/>
                </a:solidFill>
                <a:latin typeface="Inter"/>
              </a:rPr>
              <a:t>Teóricos</a:t>
            </a:r>
          </a:p>
          <a:p>
            <a:r>
              <a:rPr sz="1500" b="0">
                <a:solidFill>
                  <a:srgbClr val="1E293B"/>
                </a:solidFill>
                <a:latin typeface="Inter"/>
              </a:rPr>
              <a:t>✓  Vocabulario técnico en </a:t>
            </a:r>
            <a:r>
              <a:rPr sz="1500" b="1">
                <a:solidFill>
                  <a:srgbClr val="0F172A"/>
                </a:solidFill>
                <a:latin typeface="Inter"/>
              </a:rPr>
              <a:t>Inglés para Fines Específicos (ESP)</a:t>
            </a:r>
            <a:r>
              <a:rPr sz="1500" b="0">
                <a:solidFill>
                  <a:srgbClr val="1E293B"/>
                </a:solidFill>
                <a:latin typeface="Inter"/>
              </a:rPr>
              <a:t>.
✓  Normas de comunicación corporativa bilingüe.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300319" cy="4206240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700" b="1">
                <a:solidFill>
                  <a:srgbClr val="0F172A"/>
                </a:solidFill>
                <a:latin typeface="Inter"/>
              </a:rPr>
              <a:t>Prácticos</a:t>
            </a:r>
          </a:p>
          <a:p>
            <a:r>
              <a:rPr sz="1500" b="0">
                <a:solidFill>
                  <a:srgbClr val="1E293B"/>
                </a:solidFill>
                <a:latin typeface="Inter"/>
              </a:rPr>
              <a:t>✓  Maquetación digital de folletos.
✓  Trabajo en equipo corporativo.
✓  Resolución de problemas en proyectos reales.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09. EVIDENCIAS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Demostración del Producto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645920"/>
            <a:ext cx="3411626" cy="3657600"/>
          </a:xfrm>
          <a:prstGeom prst="roundRect">
            <a:avLst>
              <a:gd name="adj" fmla="val 2000"/>
            </a:avLst>
          </a:prstGeom>
          <a:solidFill>
            <a:srgbClr val="F1F5F4"/>
          </a:solidFill>
          <a:ln w="15875">
            <a:solidFill>
              <a:srgbClr val="E2E8F0"/>
            </a:solidFill>
            <a:prstDash val="dash"/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Inter"/>
              </a:rPr>
              <a:t>[PÁGINA BROCHURE ESPAÑOL]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1645920"/>
            <a:ext cx="3411626" cy="3657600"/>
          </a:xfrm>
          <a:prstGeom prst="roundRect">
            <a:avLst>
              <a:gd name="adj" fmla="val 2000"/>
            </a:avLst>
          </a:prstGeom>
          <a:solidFill>
            <a:srgbClr val="F1F5F4"/>
          </a:solidFill>
          <a:ln w="15875">
            <a:solidFill>
              <a:srgbClr val="E2E8F0"/>
            </a:solidFill>
            <a:prstDash val="dash"/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Inter"/>
              </a:rPr>
              <a:t>[PÁGINA BROCHURE INGLÉS]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7420" y="1645920"/>
            <a:ext cx="3411626" cy="3657600"/>
          </a:xfrm>
          <a:prstGeom prst="roundRect">
            <a:avLst>
              <a:gd name="adj" fmla="val 2000"/>
            </a:avLst>
          </a:prstGeom>
          <a:solidFill>
            <a:srgbClr val="F1F5F4"/>
          </a:solidFill>
          <a:ln w="15875">
            <a:solidFill>
              <a:srgbClr val="E2E8F0"/>
            </a:solidFill>
            <a:prstDash val="dash"/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Inter"/>
              </a:rPr>
              <a:t>[EVIDENCIA FOTOGRÁFICA]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10.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1737360"/>
            <a:ext cx="8040319" cy="329184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800" b="1">
                <a:solidFill>
                  <a:srgbClr val="2D5A47"/>
                </a:solidFill>
                <a:latin typeface="Inter"/>
              </a:rPr>
              <a:t>✔  </a:t>
            </a:r>
            <a:r>
              <a:rPr sz="1700">
                <a:solidFill>
                  <a:srgbClr val="1E293B"/>
                </a:solidFill>
                <a:latin typeface="Inter"/>
              </a:rPr>
              <a:t>Cumplimiento exitoso del objetivo al dotar a la empresa de una **herramienta bilingüe** que elimina barreras idiomáticas y fortalece su imagen corporativa.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11. SUGERENCIAS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051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Inter"/>
              </a:rPr>
              <a:t>Recomendaciones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645920"/>
            <a:ext cx="3472586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0F172A"/>
                </a:solidFill>
                <a:latin typeface="Inter"/>
              </a:rPr>
              <a:t>A la Empresa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Mantener actualizado el brochure digital en todas sus plataformas.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9554" y="1645920"/>
            <a:ext cx="3472586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0F172A"/>
                </a:solidFill>
                <a:latin typeface="Inter"/>
              </a:rPr>
              <a:t>Al IUTSO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Continuar ofreciendo talleres sobre herramientas digitales de traducción y diseño.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6460" y="1645920"/>
            <a:ext cx="3472586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39700" rIns="139700" bIns="101600"/>
          <a:lstStyle/>
          <a:p>
            <a:pPr algn="ctr"/>
            <a:r>
              <a:rPr sz="1600" b="1">
                <a:solidFill>
                  <a:srgbClr val="0F172A"/>
                </a:solidFill>
                <a:latin typeface="Inter"/>
              </a:rPr>
              <a:t>A Futuros Pasantes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Administrar el tiempo rigurosamente desde el primer día.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327648"/>
            <a:ext cx="1096639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Inter"/>
              </a:rPr>
              <a:t>IUTSO 2026 · Ahlam Alrifaai Alrifaie · Defensa de Pasantía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051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Inter"/>
              </a:rPr>
              <a:t>12.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2011680"/>
            <a:ext cx="8040319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F172A"/>
                </a:solidFill>
                <a:latin typeface="Inter"/>
              </a:rPr>
              <a:t>¡Muchas Gracias por su Atención!</a:t>
            </a:r>
          </a:p>
          <a:p>
            <a:pPr algn="ctr"/>
            <a:r>
              <a:rPr sz="1700" i="1">
                <a:solidFill>
                  <a:srgbClr val="2D5A47"/>
                </a:solidFill>
                <a:latin typeface="Inter"/>
              </a:rPr>
              <a:t>Thank you very much for your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126480"/>
            <a:ext cx="109663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4748B"/>
                </a:solidFill>
                <a:latin typeface="Inter"/>
              </a:rPr>
              <a:t>IUTSO 2026 · Ahlam Alrifaai Alrifaie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